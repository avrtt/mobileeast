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3faae78d0_0_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3faae78d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3faae78d0_0_2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3faae78d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3faae78d0_0_1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3faae78d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3faae78d0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3faae78d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3faae78d0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53faae78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3faae78d0_0_1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53faae78d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53faae78d0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53faae78d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3faae78d0_0_3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53faae78d0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53faae78d0_0_3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53faae78d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3faae78d0_0_3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53faae78d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3faae78d0_0_3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3faae78d0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3faae78d0_0_3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53faae78d0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53faae78d0_0_2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53faae78d0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3faae78d0_0_2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53faae78d0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Постановка задачи</a:t>
            </a:r>
            <a:endParaRPr b="1"/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1700" y="1169550"/>
            <a:ext cx="4686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-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сложная графическая сцена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-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обнаружение (детекция) текста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-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распознавание текста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-"/>
            </a:pPr>
            <a:r>
              <a:rPr b="1" lang="en" sz="2100">
                <a:latin typeface="Roboto"/>
                <a:ea typeface="Roboto"/>
                <a:cs typeface="Roboto"/>
                <a:sym typeface="Roboto"/>
              </a:rPr>
              <a:t>STR ≠ OCR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050" y="2891201"/>
            <a:ext cx="7057902" cy="186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987850" y="3028050"/>
            <a:ext cx="14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Фон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117825" y="3103575"/>
            <a:ext cx="14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Форма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546325" y="2647050"/>
            <a:ext cx="14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Шум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291775" y="1169550"/>
            <a:ext cx="3540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Мобильный перевод, навигация роботов, image captioning, считывание номерных знаков и т.д.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Структура работы</a:t>
            </a:r>
            <a:endParaRPr b="1"/>
          </a:p>
        </p:txBody>
      </p:sp>
      <p:sp>
        <p:nvSpPr>
          <p:cNvPr id="98" name="Google Shape;98;p14"/>
          <p:cNvSpPr/>
          <p:nvPr/>
        </p:nvSpPr>
        <p:spPr>
          <a:xfrm>
            <a:off x="432350" y="1304875"/>
            <a:ext cx="19884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871675" y="1451575"/>
            <a:ext cx="9123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CRNN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432350" y="2199750"/>
            <a:ext cx="3962700" cy="12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/>
              <a:t>1. </a:t>
            </a:r>
            <a:r>
              <a:rPr lang="en"/>
              <a:t>Реализация и исследование модели распознавания CRNN с использованием CTC-loss</a:t>
            </a:r>
            <a:endParaRPr/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2229125" y="1304875"/>
            <a:ext cx="21660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053725" y="1304875"/>
            <a:ext cx="26724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MobEAST+CRNN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2603450" y="1451575"/>
            <a:ext cx="1580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EAST+CRNN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183850" y="1304875"/>
            <a:ext cx="20703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MobEAST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4"/>
          <p:cNvSpPr txBox="1"/>
          <p:nvPr>
            <p:ph idx="4294967295" type="body"/>
          </p:nvPr>
        </p:nvSpPr>
        <p:spPr>
          <a:xfrm>
            <a:off x="432350" y="3497975"/>
            <a:ext cx="39627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/>
              <a:t>2</a:t>
            </a:r>
            <a:r>
              <a:rPr b="1" lang="en"/>
              <a:t>. </a:t>
            </a:r>
            <a:r>
              <a:rPr lang="en"/>
              <a:t>Реализация и исследование сквозной модели EAST+CRNN (baseline-модель)</a:t>
            </a:r>
            <a:endParaRPr/>
          </a:p>
        </p:txBody>
      </p:sp>
      <p:sp>
        <p:nvSpPr>
          <p:cNvPr id="108" name="Google Shape;108;p14"/>
          <p:cNvSpPr txBox="1"/>
          <p:nvPr>
            <p:ph idx="4294967295" type="body"/>
          </p:nvPr>
        </p:nvSpPr>
        <p:spPr>
          <a:xfrm>
            <a:off x="4395050" y="2199750"/>
            <a:ext cx="4331100" cy="12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/>
              <a:t>3</a:t>
            </a:r>
            <a:r>
              <a:rPr b="1" lang="en"/>
              <a:t>.</a:t>
            </a:r>
            <a:r>
              <a:rPr lang="en"/>
              <a:t> Реализация и исследование</a:t>
            </a:r>
            <a:r>
              <a:rPr lang="en"/>
              <a:t> легковесной </a:t>
            </a:r>
            <a:r>
              <a:rPr lang="en"/>
              <a:t>модификации EAST (MobEAST), основанной на MobileNet</a:t>
            </a:r>
            <a:endParaRPr/>
          </a:p>
        </p:txBody>
      </p:sp>
      <p:sp>
        <p:nvSpPr>
          <p:cNvPr id="109" name="Google Shape;109;p14"/>
          <p:cNvSpPr txBox="1"/>
          <p:nvPr>
            <p:ph idx="4294967295" type="body"/>
          </p:nvPr>
        </p:nvSpPr>
        <p:spPr>
          <a:xfrm>
            <a:off x="4395125" y="3497975"/>
            <a:ext cx="4331100" cy="15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/>
              <a:t>4</a:t>
            </a:r>
            <a:r>
              <a:rPr b="1" lang="en"/>
              <a:t>. </a:t>
            </a:r>
            <a:r>
              <a:rPr lang="en"/>
              <a:t>Реализация сквозной модели MobEAST+CRNN (MobFOTS) с использованием RoIRotate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Архитектура </a:t>
            </a:r>
            <a:r>
              <a:rPr b="1" lang="en" sz="2200"/>
              <a:t>CRNN</a:t>
            </a:r>
            <a:endParaRPr b="1" sz="2200"/>
          </a:p>
        </p:txBody>
      </p:sp>
      <p:sp>
        <p:nvSpPr>
          <p:cNvPr id="117" name="Google Shape;117;p15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000" y="61700"/>
            <a:ext cx="4587425" cy="502009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250700" y="1006875"/>
            <a:ext cx="38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Текст – это последовательность.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50700" y="1509750"/>
            <a:ext cx="3917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Свертка извлекает признаки, а рекуррентные слои используют временные зависимости между этими признаками. Своя функция ошибки (CTC-loss), позволяющая распознавать без сегментации на уровне символов, и bi-directional LSTM-слой, учитывающий контекст в обе стороны.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Исследование CRNN</a:t>
            </a:r>
            <a:endParaRPr b="1" sz="2200"/>
          </a:p>
        </p:txBody>
      </p:sp>
      <p:sp>
        <p:nvSpPr>
          <p:cNvPr id="130" name="Google Shape;130;p16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" y="922450"/>
            <a:ext cx="4543301" cy="4180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3716" y="922450"/>
            <a:ext cx="4595620" cy="79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4466625" y="2051475"/>
            <a:ext cx="4595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алгоритм оптимизации – Adam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датасет для обучения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– Synth 90k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датасеты для теста – IIIT 5k и SVT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сравниваем с большим (1000 слов) и малым (100 слов) словарями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для сравнения вычисляем метрику Левенштейна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Исследование CRNN</a:t>
            </a:r>
            <a:endParaRPr b="1" sz="2200"/>
          </a:p>
        </p:txBody>
      </p:sp>
      <p:sp>
        <p:nvSpPr>
          <p:cNvPr id="143" name="Google Shape;143;p17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44" name="Google Shape;144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087" y="945325"/>
            <a:ext cx="3519276" cy="23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638" y="945325"/>
            <a:ext cx="3371449" cy="2286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8875" y="3589674"/>
            <a:ext cx="6586249" cy="13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Архитектура EAST</a:t>
            </a:r>
            <a:endParaRPr b="1" sz="2200"/>
          </a:p>
        </p:txBody>
      </p:sp>
      <p:sp>
        <p:nvSpPr>
          <p:cNvPr id="156" name="Google Shape;156;p18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57" name="Google Shape;157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250700" y="1036075"/>
            <a:ext cx="4462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EAST – быстрая CNN детекции. Извлекает признаки, затем применяет доп. свертки для вычисления карт: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оценок (какие пиксели попали в область), углов поворота, расстояний каждого пикселя до 4-х сторон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. По картам создаются повернутые прямоугольники, затем находится их пересечение.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225" y="104075"/>
            <a:ext cx="4462587" cy="44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250700" y="3652025"/>
            <a:ext cx="4462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Для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геометрического лосса, который включается в общую функцию потерь,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вводятся метрики IoU и косинус между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истинным и предсказанным углами.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Архитектура EAST</a:t>
            </a:r>
            <a:endParaRPr b="1" sz="2200"/>
          </a:p>
        </p:txBody>
      </p:sp>
      <p:sp>
        <p:nvSpPr>
          <p:cNvPr id="168" name="Google Shape;168;p19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69" name="Google Shape;169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9925"/>
            <a:ext cx="2264400" cy="6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99" y="1790225"/>
            <a:ext cx="654075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00" y="2384438"/>
            <a:ext cx="2908300" cy="499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00" y="3491675"/>
            <a:ext cx="5834208" cy="10001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1" y="3037375"/>
            <a:ext cx="3685331" cy="46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Объединение </a:t>
            </a:r>
            <a:r>
              <a:rPr b="1" lang="en" sz="2200"/>
              <a:t>EAST и CRNN</a:t>
            </a:r>
            <a:endParaRPr b="1" sz="2200"/>
          </a:p>
        </p:txBody>
      </p:sp>
      <p:sp>
        <p:nvSpPr>
          <p:cNvPr id="181" name="Google Shape;181;p20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82" name="Google Shape;182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250700" y="1026350"/>
            <a:ext cx="4045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EAST в итоге генерирует координаты каждого угла для каждого прямоугольника, а CRNN использует эту информацию для распознавания.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448750" y="-30150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900" y="269950"/>
            <a:ext cx="4848100" cy="40298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697725" y="336550"/>
            <a:ext cx="33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((x1,y1),(x2,y2),(x3,y3),(x4,y4))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50700" y="2596250"/>
            <a:ext cx="4045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базовая модель PVANet заменена на ResNet50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теперь скорость обучения линейно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снижается в процессе обучения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96" name="Google Shape;196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1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Модифицируем EAST</a:t>
            </a:r>
            <a:endParaRPr b="1" sz="2200"/>
          </a:p>
        </p:txBody>
      </p:sp>
      <p:sp>
        <p:nvSpPr>
          <p:cNvPr id="199" name="Google Shape;199;p21"/>
          <p:cNvSpPr txBox="1"/>
          <p:nvPr/>
        </p:nvSpPr>
        <p:spPr>
          <a:xfrm>
            <a:off x="250700" y="1001838"/>
            <a:ext cx="394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кцент на ускорение инференса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трансферное обучение над MobileNet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13 блоков с точечной сверткой и сверткой в глубину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L2-регуляризация ядра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702" y="3367175"/>
            <a:ext cx="2777099" cy="10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30850" y="4573575"/>
            <a:ext cx="4102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– номер слоя, </a:t>
            </a:r>
            <a:r>
              <a:rPr i="1" lang="en" sz="1700">
                <a:latin typeface="Roboto"/>
                <a:ea typeface="Roboto"/>
                <a:cs typeface="Roboto"/>
                <a:sym typeface="Roboto"/>
              </a:rPr>
              <a:t>α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– вектор параметров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295900" y="1001850"/>
            <a:ext cx="4277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выводы точечных сверток извлекаются в блоках 2, 5, 11 и 13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создаются карты оценок, геометрии и углов п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утем применения свертки 1x1 с 1, 4 и 1 фильтрами, соответственно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Исследование MobEAST</a:t>
            </a:r>
            <a:endParaRPr b="1" sz="2200"/>
          </a:p>
        </p:txBody>
      </p:sp>
      <p:sp>
        <p:nvSpPr>
          <p:cNvPr id="213" name="Google Shape;213;p22"/>
          <p:cNvSpPr txBox="1"/>
          <p:nvPr/>
        </p:nvSpPr>
        <p:spPr>
          <a:xfrm>
            <a:off x="63500" y="1057838"/>
            <a:ext cx="441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Алгоритм оптимизации – Adam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Экспоненциальное затухание скорости обучения (sheduler)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Будем относить объект к определенному классу, используя пороговое значение для IoU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Метрики оценивания – Precision, Recall, F-score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Датасеты для обучения – ICDAR15 (1000 изображений) и ICDAR13 (230 изображений)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Изображения сопровождаются txt-файлом с координатами углов областей и истинным текстом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4466625" y="1057850"/>
            <a:ext cx="4604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Датасет для валидации – ICDAR15 (500 изображений)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Для увеличения тренировочного датасета используется аугментация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050" y="2391200"/>
            <a:ext cx="3202296" cy="25704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223" name="Google Shape;223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3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Исследование MobEAST</a:t>
            </a:r>
            <a:endParaRPr b="1" sz="2200"/>
          </a:p>
        </p:txBody>
      </p:sp>
      <p:sp>
        <p:nvSpPr>
          <p:cNvPr id="226" name="Google Shape;226;p23"/>
          <p:cNvSpPr txBox="1"/>
          <p:nvPr/>
        </p:nvSpPr>
        <p:spPr>
          <a:xfrm>
            <a:off x="63500" y="1057838"/>
            <a:ext cx="441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Модель обучалась на всех параметрах (без замораживания базовой модели)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14100"/>
            <a:ext cx="6938673" cy="15451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050" y="2216336"/>
            <a:ext cx="7711698" cy="1293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23"/>
          <p:cNvSpPr txBox="1"/>
          <p:nvPr/>
        </p:nvSpPr>
        <p:spPr>
          <a:xfrm>
            <a:off x="4295900" y="1057850"/>
            <a:ext cx="454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Точность получилась близкой к оригинальной, однако у мод. модели меньше параметров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237" name="Google Shape;237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Исследование MobEAST</a:t>
            </a:r>
            <a:endParaRPr b="1" sz="2200"/>
          </a:p>
        </p:txBody>
      </p:sp>
      <p:sp>
        <p:nvSpPr>
          <p:cNvPr id="240" name="Google Shape;240;p24"/>
          <p:cNvSpPr txBox="1"/>
          <p:nvPr/>
        </p:nvSpPr>
        <p:spPr>
          <a:xfrm>
            <a:off x="63500" y="1057850"/>
            <a:ext cx="908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Время работы модели значительно выросло, что показывают исследования на различных размерах изображений. Для каждого эксперимента использовались одни и те же 500 тестовых изображений, изменялся лишь размер.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1" name="Google Shape;2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550" y="2391200"/>
            <a:ext cx="6766780" cy="25301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Исследование MobEAST</a:t>
            </a:r>
            <a:endParaRPr b="1" sz="2200"/>
          </a:p>
        </p:txBody>
      </p:sp>
      <p:sp>
        <p:nvSpPr>
          <p:cNvPr id="252" name="Google Shape;252;p25"/>
          <p:cNvSpPr txBox="1"/>
          <p:nvPr/>
        </p:nvSpPr>
        <p:spPr>
          <a:xfrm>
            <a:off x="81875" y="1973075"/>
            <a:ext cx="404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Хотя модель и обучалась на англоязычных текстах, она также способна обнаруживать надписи на кириллице.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900" y="1073650"/>
            <a:ext cx="4789800" cy="336874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6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261" name="Google Shape;261;p2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6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Архитектура MobFOTS</a:t>
            </a:r>
            <a:endParaRPr b="1" sz="2200"/>
          </a:p>
        </p:txBody>
      </p:sp>
      <p:pic>
        <p:nvPicPr>
          <p:cNvPr id="264" name="Google Shape;2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7800" y="917375"/>
            <a:ext cx="4946200" cy="307238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250700" y="1001838"/>
            <a:ext cx="3947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Добавляем компонент распознавания к ранее модифицированной модели.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250700" y="2017650"/>
            <a:ext cx="394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После преобразования батча из N изображений, их общие свертки трансформируются с помощью RoIRotate и передаются на вход CRNN, аналогично использующей CTC-loss.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250700" y="3864738"/>
            <a:ext cx="3947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Исследование не проводилось из-за недостатка вычислительных ресурсов.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4527988" y="4452300"/>
            <a:ext cx="4045200" cy="79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4466625" y="-34425"/>
            <a:ext cx="4789800" cy="460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7"/>
          <p:cNvSpPr txBox="1"/>
          <p:nvPr>
            <p:ph idx="1" type="subTitle"/>
          </p:nvPr>
        </p:nvSpPr>
        <p:spPr>
          <a:xfrm>
            <a:off x="-1442100" y="36520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lt1"/>
                </a:solidFill>
              </a:rPr>
              <a:t>тбьбьтб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275" name="Google Shape;275;p2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250700" y="1036075"/>
            <a:ext cx="446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250700" y="1001850"/>
            <a:ext cx="832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Основной результат работы – новая модель MobEAST, способная выделять области с текстом с очень высокой скоростью, при этом сохраняя state-of-the-art точность.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250700" y="269950"/>
            <a:ext cx="4045200" cy="5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Заключение</a:t>
            </a:r>
            <a:endParaRPr b="1" sz="2200"/>
          </a:p>
        </p:txBody>
      </p:sp>
      <p:sp>
        <p:nvSpPr>
          <p:cNvPr id="279" name="Google Shape;279;p27"/>
          <p:cNvSpPr txBox="1"/>
          <p:nvPr/>
        </p:nvSpPr>
        <p:spPr>
          <a:xfrm>
            <a:off x="250700" y="2017650"/>
            <a:ext cx="8209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Направления д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альнейшей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работы: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дообучение MobFOTS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переход от прямоугольных областей к более гибким формам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адаптирование моделей к работе с другими языками (трансферное обучение)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дополнительная работа над алгоритмом оптимизации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внедрение моделей в мобильные приложения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-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исследование методов бинаризации в контексте данной задачи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